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7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CF488C-9207-48A7-A3F0-475437D848E4}" v="1" dt="2026-05-26T14:37:18.614"/>
    <p1510:client id="{517468E9-38EB-B6EB-1144-48DF59A75096}" v="80" dt="2026-05-26T16:53:24.842"/>
    <p1510:client id="{555817F3-AB06-6905-CA13-08938896D7DB}" v="98" dt="2026-05-26T17:18:57.162"/>
    <p1510:client id="{92098EDA-5DA8-E79F-D036-A649CC0F08F8}" v="121" dt="2026-05-26T17:12:50.417"/>
    <p1510:client id="{E1F156D7-294D-26F8-000E-90743A2DBAA2}" v="32" dt="2026-05-26T16:27:18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28701"/>
            <a:ext cx="6858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333" spc="1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824377"/>
            <a:ext cx="6858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133" b="1" cap="all" spc="800" baseline="0"/>
            </a:lvl1pPr>
            <a:lvl2pPr marL="609585" indent="0" algn="ctr">
              <a:buNone/>
              <a:defRPr sz="2133"/>
            </a:lvl2pPr>
            <a:lvl3pPr marL="1219170" indent="0" algn="ctr">
              <a:buNone/>
              <a:defRPr sz="2133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9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793080"/>
            <a:ext cx="7680677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1" y="2114940"/>
            <a:ext cx="7680677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6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8" y="1709739"/>
            <a:ext cx="7474889" cy="2852737"/>
          </a:xfrm>
        </p:spPr>
        <p:txBody>
          <a:bodyPr anchor="b">
            <a:normAutofit/>
          </a:bodyPr>
          <a:lstStyle>
            <a:lvl1pPr>
              <a:defRPr sz="5867" spc="1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698" y="4976328"/>
            <a:ext cx="7474890" cy="1113323"/>
          </a:xfrm>
        </p:spPr>
        <p:txBody>
          <a:bodyPr>
            <a:normAutofit/>
          </a:bodyPr>
          <a:lstStyle>
            <a:lvl1pPr marL="0" indent="0">
              <a:buNone/>
              <a:defRPr sz="1600" spc="8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6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1" y="457200"/>
            <a:ext cx="7732309" cy="1233488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3040" y="1996141"/>
            <a:ext cx="373181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996141"/>
            <a:ext cx="38862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75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7" y="457200"/>
            <a:ext cx="7490174" cy="1233488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368" y="1681163"/>
            <a:ext cx="3471814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6368" y="2505075"/>
            <a:ext cx="3471814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8612" y="1681163"/>
            <a:ext cx="3757929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8611" y="2505075"/>
            <a:ext cx="375793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64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57200"/>
            <a:ext cx="7486649" cy="1233488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19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96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67" y="457200"/>
            <a:ext cx="2949178" cy="192143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098" y="987426"/>
            <a:ext cx="4280443" cy="4873625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067" y="2799185"/>
            <a:ext cx="2949178" cy="306980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2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225" y="681135"/>
            <a:ext cx="2949178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76057" y="858417"/>
            <a:ext cx="4140484" cy="500263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225" y="2281335"/>
            <a:ext cx="2949178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3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63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71675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57200"/>
            <a:ext cx="5800725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1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800"/>
            <a:ext cx="9144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3028950" y="6400799"/>
            <a:ext cx="6115049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61666"/>
            <a:ext cx="7357782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286001"/>
            <a:ext cx="7357782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32583" y="6409170"/>
            <a:ext cx="2776794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cap="all" spc="4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85951" y="1969367"/>
            <a:ext cx="4114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2259" y="6408742"/>
            <a:ext cx="328989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1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pos="5544" userDrawn="1">
          <p15:clr>
            <a:srgbClr val="F26B43"/>
          </p15:clr>
        </p15:guide>
        <p15:guide id="7" pos="3834" userDrawn="1">
          <p15:clr>
            <a:srgbClr val="F26B43"/>
          </p15:clr>
        </p15:guide>
        <p15:guide id="8" pos="1908" userDrawn="1">
          <p15:clr>
            <a:srgbClr val="F26B43"/>
          </p15:clr>
        </p15:guide>
        <p15:guide id="9" pos="648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  <p15:guide id="11" pos="51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948" y="208533"/>
            <a:ext cx="7680677" cy="1233488"/>
          </a:xfrm>
        </p:spPr>
        <p:txBody>
          <a:bodyPr/>
          <a:lstStyle/>
          <a:p>
            <a:r>
              <a:t>Portada</a:t>
            </a:r>
            <a:r>
              <a:rPr lang="es-ES"/>
              <a:t> y </a:t>
            </a:r>
            <a:br>
              <a:rPr lang="es-ES"/>
            </a:br>
            <a:r>
              <a:rPr lang="es-ES"/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630" y="1573680"/>
            <a:ext cx="7555417" cy="3956179"/>
          </a:xfrm>
        </p:spPr>
        <p:txBody>
          <a:bodyPr/>
          <a:lstStyle/>
          <a:p>
            <a:r>
              <a:t>Sistema de Gestión Bibliotecaria UNILIB</a:t>
            </a:r>
          </a:p>
          <a:p>
            <a:r>
              <a:t>Resumen Ejecutivo</a:t>
            </a:r>
          </a:p>
        </p:txBody>
      </p:sp>
      <p:pic>
        <p:nvPicPr>
          <p:cNvPr id="4" name="Imagen 3" descr="Una computadora en una biblioteca&#10;&#10;El contenido generado por IA puede ser incorrecto.">
            <a:extLst>
              <a:ext uri="{FF2B5EF4-FFF2-40B4-BE49-F238E27FC236}">
                <a16:creationId xmlns:a16="http://schemas.microsoft.com/office/drawing/2014/main" id="{CFF8F634-0F25-1CE8-DFD0-EE1D3C8C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191" y="822343"/>
            <a:ext cx="3891414" cy="4710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web para gestionar usuarios, catálogo, préstamos, devoluciones, reportes y notificaciones.</a:t>
            </a:r>
          </a:p>
        </p:txBody>
      </p:sp>
      <p:pic>
        <p:nvPicPr>
          <p:cNvPr id="6" name="Imagen 5" descr="Un grupo de biblioteca&#10;&#10;El contenido generado por IA puede ser incorrecto.">
            <a:extLst>
              <a:ext uri="{FF2B5EF4-FFF2-40B4-BE49-F238E27FC236}">
                <a16:creationId xmlns:a16="http://schemas.microsoft.com/office/drawing/2014/main" id="{FB014717-721B-3075-D47B-AD9546E58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637" y="3220512"/>
            <a:ext cx="5309344" cy="29943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024" y="490520"/>
            <a:ext cx="7680677" cy="650783"/>
          </a:xfrm>
        </p:spPr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025" y="1296911"/>
            <a:ext cx="6784207" cy="426994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err="1"/>
              <a:t>Automatizar</a:t>
            </a:r>
            <a:r>
              <a:t> </a:t>
            </a:r>
            <a:r>
              <a:rPr err="1"/>
              <a:t>procesos</a:t>
            </a:r>
            <a:r>
              <a:t> </a:t>
            </a:r>
            <a:r>
              <a:rPr err="1"/>
              <a:t>bibliotecarios</a:t>
            </a:r>
            <a:r>
              <a:t> y </a:t>
            </a:r>
            <a:endParaRPr lang="es-ES"/>
          </a:p>
          <a:p>
            <a:r>
              <a:rPr err="1"/>
              <a:t>mejorar</a:t>
            </a:r>
            <a:r>
              <a:t> </a:t>
            </a:r>
            <a:r>
              <a:rPr err="1"/>
              <a:t>eficiencia</a:t>
            </a:r>
            <a:r>
              <a:t> y </a:t>
            </a:r>
            <a:r>
              <a:rPr err="1"/>
              <a:t>experiencia</a:t>
            </a:r>
            <a:r>
              <a:t> </a:t>
            </a:r>
            <a:endParaRPr lang="es-ES"/>
          </a:p>
          <a:p>
            <a:r>
              <a:t>del </a:t>
            </a:r>
            <a:r>
              <a:rPr err="1"/>
              <a:t>usuario</a:t>
            </a:r>
            <a:r>
              <a:t>.</a:t>
            </a:r>
          </a:p>
        </p:txBody>
      </p:sp>
      <p:pic>
        <p:nvPicPr>
          <p:cNvPr id="4" name="Imagen 3" descr="Imagen en blanco y negro de una biblioteca&#10;&#10;El contenido generado por IA puede ser incorrecto.">
            <a:extLst>
              <a:ext uri="{FF2B5EF4-FFF2-40B4-BE49-F238E27FC236}">
                <a16:creationId xmlns:a16="http://schemas.microsoft.com/office/drawing/2014/main" id="{DB46F498-CB1D-CAE6-703E-E95E540FD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322" y="104355"/>
            <a:ext cx="4336678" cy="618984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A2279C1-D3F7-D2FD-84F1-B837D41D8143}"/>
              </a:ext>
            </a:extLst>
          </p:cNvPr>
          <p:cNvSpPr txBox="1"/>
          <p:nvPr/>
        </p:nvSpPr>
        <p:spPr>
          <a:xfrm>
            <a:off x="588488" y="3643028"/>
            <a:ext cx="3797155" cy="1779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98251AC-9B04-EF20-2D70-1324ECBCD3FA}"/>
              </a:ext>
            </a:extLst>
          </p:cNvPr>
          <p:cNvSpPr txBox="1"/>
          <p:nvPr/>
        </p:nvSpPr>
        <p:spPr>
          <a:xfrm>
            <a:off x="-1322" y="3198229"/>
            <a:ext cx="438774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>
                <a:solidFill>
                  <a:srgbClr val="101010"/>
                </a:solidFill>
                <a:latin typeface="Roboto"/>
                <a:ea typeface="Roboto"/>
                <a:cs typeface="Roboto"/>
              </a:rPr>
              <a:t>La biblioteca enfrenta problemas de alta demanda y un sistema obsoleto que causa caos en el control de usuarios y préstamos.</a:t>
            </a:r>
            <a:r>
              <a:rPr lang="es-ES" sz="1200">
                <a:solidFill>
                  <a:srgbClr val="10101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</a:t>
            </a:r>
            <a:r>
              <a:rPr lang="es-ES" sz="1200">
                <a:solidFill>
                  <a:srgbClr val="101010"/>
                </a:solidFill>
                <a:latin typeface="Roboto"/>
                <a:ea typeface="Roboto"/>
                <a:cs typeface="Roboto"/>
              </a:rPr>
              <a:t>Se propone una modernización digital con un nuevo sistema automatizado y una interfaz fácil de usar.</a:t>
            </a:r>
            <a:r>
              <a:rPr lang="es-ES" sz="1200">
                <a:solidFill>
                  <a:srgbClr val="10101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</a:t>
            </a:r>
            <a:r>
              <a:rPr lang="es-ES" sz="1200">
                <a:solidFill>
                  <a:srgbClr val="101010"/>
                </a:solidFill>
                <a:latin typeface="Roboto"/>
                <a:ea typeface="Roboto"/>
                <a:cs typeface="Roboto"/>
              </a:rPr>
              <a:t>Esto incluirá gestión de usuarios, un catálogo de libros digitalizado, y reportes de uso.</a:t>
            </a:r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Gerente: Felipe Droguett</a:t>
            </a:r>
          </a:p>
          <a:p>
            <a:r>
              <a:t>Analista: Felipe Pérez</a:t>
            </a:r>
          </a:p>
          <a:p>
            <a:r>
              <a:t>Desarrollador: Ezequiel Díaz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8B179E-2EE6-CDF4-EEE1-88754EBE4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578" y="1712934"/>
            <a:ext cx="2743200" cy="2743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793080"/>
            <a:ext cx="7680677" cy="180136"/>
          </a:xfrm>
        </p:spPr>
        <p:txBody>
          <a:bodyPr>
            <a:normAutofit fontScale="90000"/>
          </a:bodyPr>
          <a:lstStyle/>
          <a:p>
            <a:r>
              <a:t>Arquitectura 4+1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1" y="983147"/>
            <a:ext cx="2918177" cy="509917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dirty="0"/>
              <a:t>Vista </a:t>
            </a:r>
            <a:r>
              <a:rPr lang="es-ES" err="1"/>
              <a:t>lógica</a:t>
            </a:r>
            <a:r>
              <a:rPr dirty="0"/>
              <a:t>, </a:t>
            </a:r>
            <a:r>
              <a:rPr lang="es-ES" err="1"/>
              <a:t>desarrollo</a:t>
            </a:r>
            <a:r>
              <a:rPr dirty="0"/>
              <a:t>, </a:t>
            </a:r>
            <a:r>
              <a:rPr lang="es-ES" err="1"/>
              <a:t>procesos</a:t>
            </a:r>
            <a:r>
              <a:rPr dirty="0"/>
              <a:t>, </a:t>
            </a:r>
            <a:r>
              <a:rPr lang="es-ES" err="1"/>
              <a:t>física</a:t>
            </a:r>
            <a:r>
              <a:rPr dirty="0"/>
              <a:t> y </a:t>
            </a:r>
            <a:r>
              <a:rPr lang="es-ES" err="1"/>
              <a:t>escenarios</a:t>
            </a:r>
            <a:r>
              <a:rPr dirty="0"/>
              <a:t>.</a:t>
            </a:r>
          </a:p>
          <a:p>
            <a:endParaRPr lang="es-ES" dirty="0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84BFE8ED-B0EC-92A5-6DD3-DF9C7722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658" y="1008529"/>
            <a:ext cx="4971830" cy="5076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Requisitos</a:t>
            </a:r>
            <a:r>
              <a:rPr lang="es-ES" dirty="0"/>
              <a:t> </a:t>
            </a:r>
            <a:r>
              <a:rPr lang="es-ES" dirty="0" err="1"/>
              <a:t>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Gestión de usuarios</a:t>
            </a:r>
          </a:p>
          <a:p>
            <a:r>
              <a:t>• Catálogo de libros</a:t>
            </a:r>
          </a:p>
          <a:p>
            <a:r>
              <a:t>• Préstamos y devoluciones</a:t>
            </a:r>
          </a:p>
          <a:p>
            <a:r>
              <a:t>• Reportes</a:t>
            </a:r>
          </a:p>
          <a:p>
            <a:r>
              <a:t>• Notificaciones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no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dirty="0" err="1"/>
              <a:t>Seguridad</a:t>
            </a:r>
            <a:r>
              <a:rPr dirty="0"/>
              <a:t> </a:t>
            </a:r>
            <a:r>
              <a:rPr lang="es-ES" dirty="0"/>
              <a:t>RBAC</a:t>
            </a:r>
          </a:p>
          <a:p>
            <a:r>
              <a:rPr lang="es-ES"/>
              <a:t>Disponibilidad</a:t>
            </a:r>
            <a:r>
              <a:t> 99.5</a:t>
            </a:r>
            <a:r>
              <a:rPr lang="es-ES"/>
              <a:t>%</a:t>
            </a:r>
          </a:p>
          <a:p>
            <a:r>
              <a:rPr lang="es-ES"/>
              <a:t>Rendimiento</a:t>
            </a:r>
            <a:r>
              <a:rPr dirty="0"/>
              <a:t> </a:t>
            </a:r>
            <a:endParaRPr lang="es-ES" dirty="0"/>
          </a:p>
          <a:p>
            <a:r>
              <a:rPr lang="es-ES"/>
              <a:t>Accesibilidad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210375"/>
            <a:ext cx="7680677" cy="572341"/>
          </a:xfrm>
        </p:spPr>
        <p:txBody>
          <a:bodyPr>
            <a:normAutofit/>
          </a:bodyPr>
          <a:lstStyle/>
          <a:p>
            <a:r>
              <a:t>Vista 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1" y="1061588"/>
            <a:ext cx="7254854" cy="1670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dirty="0"/>
              <a:t>Presentación (</a:t>
            </a:r>
            <a:r>
              <a:rPr lang="es-ES" err="1"/>
              <a:t>Thymeleaf</a:t>
            </a:r>
            <a:r>
              <a:rPr dirty="0"/>
              <a:t>) → </a:t>
            </a:r>
            <a:r>
              <a:rPr lang="es-ES" err="1"/>
              <a:t>Servicios</a:t>
            </a:r>
            <a:r>
              <a:rPr dirty="0"/>
              <a:t> (Spring Boot) → </a:t>
            </a:r>
            <a:r>
              <a:rPr lang="es-ES" err="1"/>
              <a:t>Persistencia</a:t>
            </a:r>
            <a:r>
              <a:rPr dirty="0"/>
              <a:t> (JPA/</a:t>
            </a:r>
            <a:r>
              <a:rPr lang="es-ES" err="1"/>
              <a:t>Hibernate</a:t>
            </a:r>
            <a:r>
              <a:rPr dirty="0"/>
              <a:t> + Oracle).</a:t>
            </a:r>
            <a:endParaRPr lang="es-ES" dirty="0"/>
          </a:p>
        </p:txBody>
      </p:sp>
      <p:pic>
        <p:nvPicPr>
          <p:cNvPr id="4" name="Imagen 3" descr="Diagrama, Escala de tiempo&#10;&#10;El contenido generado por IA puede ser incorrecto.">
            <a:extLst>
              <a:ext uri="{FF2B5EF4-FFF2-40B4-BE49-F238E27FC236}">
                <a16:creationId xmlns:a16="http://schemas.microsoft.com/office/drawing/2014/main" id="{D0DC2B22-2581-2CFD-9488-E30FBE38D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822" y="1893794"/>
            <a:ext cx="3584150" cy="39780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153474"/>
            <a:ext cx="7680677" cy="736017"/>
          </a:xfrm>
        </p:spPr>
        <p:txBody>
          <a:bodyPr/>
          <a:lstStyle/>
          <a:p>
            <a:r>
              <a:t>Vista de procesos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775" y="883747"/>
            <a:ext cx="3344755" cy="824742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 →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libro</a:t>
            </a:r>
            <a:r>
              <a:rPr dirty="0"/>
              <a:t> → </a:t>
            </a:r>
            <a:r>
              <a:rPr dirty="0" err="1"/>
              <a:t>préstamo</a:t>
            </a:r>
            <a:r>
              <a:rPr dirty="0"/>
              <a:t> → </a:t>
            </a:r>
            <a:r>
              <a:rPr dirty="0" err="1"/>
              <a:t>confirmación</a:t>
            </a:r>
            <a:r>
              <a:rPr dirty="0"/>
              <a:t> → </a:t>
            </a:r>
            <a:r>
              <a:rPr dirty="0" err="1"/>
              <a:t>notificación</a:t>
            </a:r>
            <a:r>
              <a:rPr dirty="0"/>
              <a:t>.</a:t>
            </a:r>
          </a:p>
          <a:p>
            <a:endParaRPr lang="es-ES" dirty="0"/>
          </a:p>
        </p:txBody>
      </p:sp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756EAE8C-CA65-E1A8-FBF5-98A92F4F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219" y="879102"/>
            <a:ext cx="5829300" cy="5279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16" y="-504"/>
            <a:ext cx="4316823" cy="1197952"/>
          </a:xfrm>
        </p:spPr>
        <p:txBody>
          <a:bodyPr>
            <a:normAutofit/>
          </a:bodyPr>
          <a:lstStyle/>
          <a:p>
            <a:r>
              <a:t>Vista de desarrollo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51" y="2114940"/>
            <a:ext cx="8332127" cy="3956179"/>
          </a:xfrm>
        </p:spPr>
        <p:txBody>
          <a:bodyPr/>
          <a:lstStyle/>
          <a:p>
            <a:r>
              <a:t>Backend Java + Spring Boot</a:t>
            </a:r>
          </a:p>
          <a:p>
            <a:r>
              <a:t>Frontend Thymeleaf</a:t>
            </a:r>
          </a:p>
          <a:p>
            <a:r>
              <a:t>BD Oracle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B6628808-F67B-BD86-3D62-621EEC811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924" y="0"/>
            <a:ext cx="4592463" cy="6348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-2537"/>
            <a:ext cx="4218060" cy="572341"/>
          </a:xfrm>
        </p:spPr>
        <p:txBody>
          <a:bodyPr/>
          <a:lstStyle/>
          <a:p>
            <a:r>
              <a:t>Vista física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635764"/>
            <a:ext cx="2582001" cy="5435355"/>
          </a:xfrm>
        </p:spPr>
        <p:txBody>
          <a:bodyPr/>
          <a:lstStyle/>
          <a:p>
            <a:r>
              <a:t>Cliente → Servidor Aplicación → Oracle → SMTP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7D7F7394-1050-ADBD-C561-3E5B09603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769" y="537881"/>
            <a:ext cx="4692518" cy="57934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7" y="199168"/>
            <a:ext cx="3803441" cy="998163"/>
          </a:xfrm>
        </p:spPr>
        <p:txBody>
          <a:bodyPr/>
          <a:lstStyle/>
          <a:p>
            <a:r>
              <a:t>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8" y="1229676"/>
            <a:ext cx="3792237" cy="484144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dirty="0"/>
              <a:t>ISO 25010 + </a:t>
            </a:r>
            <a:r>
              <a:rPr dirty="0" err="1"/>
              <a:t>Heurísticas</a:t>
            </a:r>
            <a:r>
              <a:rPr dirty="0"/>
              <a:t> Nielsen + WCAG 2.1</a:t>
            </a:r>
          </a:p>
          <a:p>
            <a:endParaRPr lang="es-ES" dirty="0"/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EF52CEAF-D6E4-FA64-287C-093DE8B84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28" y="203947"/>
            <a:ext cx="486727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348" y="187962"/>
            <a:ext cx="7680677" cy="718018"/>
          </a:xfrm>
        </p:spPr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054" y="1588263"/>
            <a:ext cx="3545707" cy="3978591"/>
          </a:xfrm>
        </p:spPr>
        <p:txBody>
          <a:bodyPr/>
          <a:lstStyle/>
          <a:p>
            <a:r>
              <a:t>Cumplimiento de requisitos y validación del prototipo.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5253959B-3880-6DB3-648A-66DF957C8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310" y="890588"/>
            <a:ext cx="5276850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Arquitectura escalable, mantenible y centrada en calidad.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3F8CC0-3AA3-A3B3-F035-39FBA02C4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606" y="2896330"/>
            <a:ext cx="4323229" cy="2891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Presentación en pantalla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GradientRiseVTI</vt:lpstr>
      <vt:lpstr>Portada y  Introducción</vt:lpstr>
      <vt:lpstr>Descripción del proyecto</vt:lpstr>
      <vt:lpstr>Objetivo</vt:lpstr>
      <vt:lpstr>Equipo</vt:lpstr>
      <vt:lpstr>Arquitectura 4+1</vt:lpstr>
      <vt:lpstr>Requisitos Funcionales</vt:lpstr>
      <vt:lpstr>Requisitos no funcionales</vt:lpstr>
      <vt:lpstr>Vista lógica</vt:lpstr>
      <vt:lpstr>Vista de procesos</vt:lpstr>
      <vt:lpstr>Vista de desarrollo</vt:lpstr>
      <vt:lpstr>Vista física</vt:lpstr>
      <vt:lpstr>Calidad</vt:lpstr>
      <vt:lpstr>Resultados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153</cp:revision>
  <dcterms:created xsi:type="dcterms:W3CDTF">2013-01-27T09:14:16Z</dcterms:created>
  <dcterms:modified xsi:type="dcterms:W3CDTF">2026-05-26T17:20:13Z</dcterms:modified>
  <cp:category/>
</cp:coreProperties>
</file>